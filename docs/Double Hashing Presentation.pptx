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6858000" cx="12192000"/>
  <p:notesSz cx="6858000" cy="9144000"/>
  <p:embeddedFontLst>
    <p:embeddedFont>
      <p:font typeface="Inter"/>
      <p:regular r:id="rId17"/>
      <p:bold r:id="rId18"/>
      <p:italic r:id="rId19"/>
      <p:boldItalic r:id="rId20"/>
    </p:embeddedFont>
    <p:embeddedFont>
      <p:font typeface="JetBrains Mon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0E7C5D-07D8-4127-A452-918B81BA2EC1}">
  <a:tblStyle styleId="{180E7C5D-07D8-4127-A452-918B81BA2EC1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11" Type="http://schemas.openxmlformats.org/officeDocument/2006/relationships/slide" Target="slides/slide5.xml"/><Relationship Id="rId22" Type="http://schemas.openxmlformats.org/officeDocument/2006/relationships/font" Target="fonts/JetBrainsMono-bold.fntdata"/><Relationship Id="rId10" Type="http://schemas.openxmlformats.org/officeDocument/2006/relationships/slide" Target="slides/slide4.xml"/><Relationship Id="rId21" Type="http://schemas.openxmlformats.org/officeDocument/2006/relationships/font" Target="fonts/JetBrainsMono-regular.fntdata"/><Relationship Id="rId13" Type="http://schemas.openxmlformats.org/officeDocument/2006/relationships/slide" Target="slides/slide7.xml"/><Relationship Id="rId24" Type="http://schemas.openxmlformats.org/officeDocument/2006/relationships/font" Target="fonts/JetBrainsMono-boldItalic.fntdata"/><Relationship Id="rId12" Type="http://schemas.openxmlformats.org/officeDocument/2006/relationships/slide" Target="slides/slide6.xml"/><Relationship Id="rId23" Type="http://schemas.openxmlformats.org/officeDocument/2006/relationships/font" Target="fonts/JetBrainsMono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Inter-regular.fntdata"/><Relationship Id="rId16" Type="http://schemas.openxmlformats.org/officeDocument/2006/relationships/slide" Target="slides/slide10.xml"/><Relationship Id="rId5" Type="http://schemas.openxmlformats.org/officeDocument/2006/relationships/slideMaster" Target="slideMasters/slideMaster1.xml"/><Relationship Id="rId19" Type="http://schemas.openxmlformats.org/officeDocument/2006/relationships/font" Target="fonts/Inter-italic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Inter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9" Type="http://schemas.openxmlformats.org/officeDocument/2006/relationships/image" Target="../media/image1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16.png"/><Relationship Id="rId8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771525" y="1514623"/>
            <a:ext cx="762000" cy="38100"/>
          </a:xfrm>
          <a:prstGeom prst="roundRect">
            <a:avLst>
              <a:gd fmla="val 16667" name="adj"/>
            </a:avLst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771525" y="1838473"/>
            <a:ext cx="4790598" cy="13409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Double Hashing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771525" y="3369915"/>
            <a:ext cx="4562475" cy="48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Trong Quản lý Sản phẩm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832525" y="3857475"/>
            <a:ext cx="49902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Tối ưu hóa tìm kiếm và xử lý va chạm với Product ID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7417450" y="3933550"/>
            <a:ext cx="2396400" cy="101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058675" y="4324015"/>
            <a:ext cx="4562400" cy="214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Nhóm 5:</a:t>
            </a:r>
            <a:endParaRPr sz="2400">
              <a:solidFill>
                <a:srgbClr val="E2E8F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2591302 Nguyễn Thanh Bình</a:t>
            </a:r>
            <a:endParaRPr sz="2400">
              <a:solidFill>
                <a:srgbClr val="E2E8F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2591315	Dương Trọng Nguyên</a:t>
            </a:r>
            <a:endParaRPr sz="2400">
              <a:solidFill>
                <a:srgbClr val="E2E8F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2591301	Lê Trương Tiến Bảo</a:t>
            </a:r>
            <a:endParaRPr sz="2400">
              <a:solidFill>
                <a:srgbClr val="E2E8F0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4" name="Google Shape;94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1524000"/>
            <a:ext cx="5229225" cy="47529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1524000"/>
            <a:ext cx="5229225" cy="47529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581025" y="581025"/>
            <a:ext cx="115814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Cấu trúc Hệ thống</a:t>
            </a:r>
            <a:endParaRPr/>
          </a:p>
        </p:txBody>
      </p:sp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71550" y="19145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971550" y="2676525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Hash Table (Bảng băm)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971550" y="3190875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Hệ thống được tổ chức dưới dạng mảng các slots: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71550" y="3990975"/>
            <a:ext cx="44481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472B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[slot_0, slot_1, ..., slot_n]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71550" y="4486275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Mỗi slot lưu trữ thông tin sản phẩm dựa trên Key (Mã sản phẩm).</a:t>
            </a:r>
            <a:endParaRPr/>
          </a:p>
        </p:txBody>
      </p:sp>
      <p:pic>
        <p:nvPicPr>
          <p:cNvPr descr="image.png" id="102" name="Google Shape;10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72275" y="1914525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6772275" y="2676525"/>
            <a:ext cx="4670583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Trạng thái Slot</a:t>
            </a:r>
            <a:endParaRPr/>
          </a:p>
        </p:txBody>
      </p:sp>
      <p:pic>
        <p:nvPicPr>
          <p:cNvPr descr="image.png" id="104" name="Google Shape;104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28712" y="2085975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86587" y="2085975"/>
            <a:ext cx="1428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6772275" y="3152775"/>
            <a:ext cx="4448175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Slot trống, chưa được sử dụng.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6772275" y="3651795"/>
            <a:ext cx="4448175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OCCUPIED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Chứa sản phẩm đang hoạt động.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6772275" y="4150816"/>
            <a:ext cx="4448175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DELETED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Đã xóa (Lazy Deletion).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3" name="Google Shape;1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3802409"/>
            <a:ext cx="5229225" cy="619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81750" y="3604319"/>
            <a:ext cx="5229225" cy="6191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 txBox="1"/>
          <p:nvPr/>
        </p:nvSpPr>
        <p:spPr>
          <a:xfrm>
            <a:off x="581025" y="581025"/>
            <a:ext cx="1158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Double Hash</a:t>
            </a: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 (Hash Functions)</a:t>
            </a:r>
            <a:endParaRPr/>
          </a:p>
        </p:txBody>
      </p:sp>
      <p:sp>
        <p:nvSpPr>
          <p:cNvPr id="116" name="Google Shape;116;p15"/>
          <p:cNvSpPr txBox="1"/>
          <p:nvPr/>
        </p:nvSpPr>
        <p:spPr>
          <a:xfrm>
            <a:off x="581025" y="2792759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Hàm 1 (h1) - Vị trí đầu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581025" y="3307109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Xác định vị trí lý tưởng ban đầu cho sản phẩm.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581025" y="4612034"/>
            <a:ext cx="52292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Ví dụ: "SP001", size=11 → h1 = 288 % 11 = </a:t>
            </a:r>
            <a:r>
              <a:rPr b="1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6381750" y="2594669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Hàm 2 (h2) - Bước nhảy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6381750" y="3109019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Xác định độ dài bước nhảy khi xảy ra va chạm.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6381750" y="4413944"/>
            <a:ext cx="52292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 là số nguyên tố lớn nhất &lt; size.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381750" y="4810125"/>
            <a:ext cx="52292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Ví dụ: R=7 → h2 = 7 - (288 % 7) = </a:t>
            </a:r>
            <a:r>
              <a:rPr b="1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7" name="Google Shape;12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03277" y="3026122"/>
            <a:ext cx="4985444" cy="1066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6"/>
          <p:cNvSpPr txBox="1"/>
          <p:nvPr/>
        </p:nvSpPr>
        <p:spPr>
          <a:xfrm>
            <a:off x="581025" y="581025"/>
            <a:ext cx="115814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Công thức Thăm dò (Probing)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3181350" y="2435572"/>
            <a:ext cx="5829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Khi vị trí ban đầu bị chiếm, ta tìm vị trí tiếp theo bằng công thức:</a:t>
            </a:r>
            <a:endParaRPr/>
          </a:p>
        </p:txBody>
      </p:sp>
      <p:sp>
        <p:nvSpPr>
          <p:cNvPr id="130" name="Google Shape;130;p16"/>
          <p:cNvSpPr txBox="1"/>
          <p:nvPr/>
        </p:nvSpPr>
        <p:spPr>
          <a:xfrm>
            <a:off x="3990975" y="4664422"/>
            <a:ext cx="11525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 = 0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3990975" y="5159722"/>
            <a:ext cx="115252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Thử vị trí gốc h1</a:t>
            </a:r>
            <a:endParaRPr/>
          </a:p>
        </p:txBody>
      </p:sp>
      <p:sp>
        <p:nvSpPr>
          <p:cNvPr id="132" name="Google Shape;132;p16"/>
          <p:cNvSpPr txBox="1"/>
          <p:nvPr/>
        </p:nvSpPr>
        <p:spPr>
          <a:xfrm>
            <a:off x="5524500" y="4664422"/>
            <a:ext cx="11334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 = 1</a:t>
            </a:r>
            <a:endParaRPr/>
          </a:p>
        </p:txBody>
      </p:sp>
      <p:sp>
        <p:nvSpPr>
          <p:cNvPr id="133" name="Google Shape;133;p16"/>
          <p:cNvSpPr txBox="1"/>
          <p:nvPr/>
        </p:nvSpPr>
        <p:spPr>
          <a:xfrm>
            <a:off x="5524500" y="5159722"/>
            <a:ext cx="1133475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Nhảy 1 bước h2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7038975" y="4664422"/>
            <a:ext cx="116205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8BDF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 = 2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7038975" y="5159722"/>
            <a:ext cx="1162050" cy="2437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Nhảy 2 bước h2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7"/>
          <p:cNvSpPr txBox="1"/>
          <p:nvPr/>
        </p:nvSpPr>
        <p:spPr>
          <a:xfrm>
            <a:off x="581025" y="581025"/>
            <a:ext cx="115814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Ví dụ 1: Thêm mới (Không va chạm)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581025" y="230028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Thêm SP001 "Laptop Dell"</a:t>
            </a:r>
            <a:endParaRPr/>
          </a:p>
        </p:txBody>
      </p:sp>
      <p:sp>
        <p:nvSpPr>
          <p:cNvPr id="142" name="Google Shape;142;p17"/>
          <p:cNvSpPr txBox="1"/>
          <p:nvPr/>
        </p:nvSpPr>
        <p:spPr>
          <a:xfrm>
            <a:off x="581025" y="2814637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h1("SP001") = 2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581025" y="3309937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Slot[2] đang TRỐNG → Lưu OK</a:t>
            </a:r>
            <a:endParaRPr/>
          </a:p>
        </p:txBody>
      </p:sp>
      <p:sp>
        <p:nvSpPr>
          <p:cNvPr id="144" name="Google Shape;144;p17"/>
          <p:cNvSpPr txBox="1"/>
          <p:nvPr/>
        </p:nvSpPr>
        <p:spPr>
          <a:xfrm>
            <a:off x="581025" y="3995737"/>
            <a:ext cx="5490686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Thêm SP002 "iPhone 15"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581025" y="4510087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h1("SP002") = 1</a:t>
            </a:r>
            <a:endParaRPr/>
          </a:p>
        </p:txBody>
      </p:sp>
      <p:sp>
        <p:nvSpPr>
          <p:cNvPr id="146" name="Google Shape;146;p17"/>
          <p:cNvSpPr txBox="1"/>
          <p:nvPr/>
        </p:nvSpPr>
        <p:spPr>
          <a:xfrm>
            <a:off x="581025" y="5005387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Slot[1] đang TRỐNG → Lưu OK</a:t>
            </a:r>
            <a:endParaRPr/>
          </a:p>
        </p:txBody>
      </p:sp>
      <p:graphicFrame>
        <p:nvGraphicFramePr>
          <p:cNvPr id="147" name="Google Shape;147;p17"/>
          <p:cNvGraphicFramePr/>
          <p:nvPr/>
        </p:nvGraphicFramePr>
        <p:xfrm>
          <a:off x="6381750" y="19621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{180E7C5D-07D8-4127-A452-918B81BA2EC1}</a:tableStyleId>
              </a:tblPr>
              <a:tblGrid>
                <a:gridCol w="857250"/>
                <a:gridCol w="1011425"/>
                <a:gridCol w="1798150"/>
                <a:gridCol w="1562400"/>
              </a:tblGrid>
              <a:tr h="64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Index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Key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Product Name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Status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iPhone 15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OCCUPIED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Laptop Dell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OCCUPIED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61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61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sp>
        <p:nvSpPr>
          <p:cNvPr id="148" name="Google Shape;148;p17"/>
          <p:cNvSpPr/>
          <p:nvPr/>
        </p:nvSpPr>
        <p:spPr>
          <a:xfrm>
            <a:off x="6381750" y="244792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7239000" y="2447925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250435" y="2447925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10048577" y="2447925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6381750" y="31051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6381750" y="25527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6381750" y="25527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7239000" y="3105150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239000" y="2552700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8250435" y="3105150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8250435" y="2552700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/>
          <p:nvPr/>
        </p:nvSpPr>
        <p:spPr>
          <a:xfrm>
            <a:off x="10048577" y="3105150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7"/>
          <p:cNvSpPr/>
          <p:nvPr/>
        </p:nvSpPr>
        <p:spPr>
          <a:xfrm>
            <a:off x="10048577" y="2552700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11601450" y="25527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6381750" y="3762375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7"/>
          <p:cNvSpPr/>
          <p:nvPr/>
        </p:nvSpPr>
        <p:spPr>
          <a:xfrm>
            <a:off x="6381750" y="3209925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7"/>
          <p:cNvSpPr/>
          <p:nvPr/>
        </p:nvSpPr>
        <p:spPr>
          <a:xfrm>
            <a:off x="6381750" y="3209925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7239000" y="3762375"/>
            <a:ext cx="10114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7239000" y="3209925"/>
            <a:ext cx="10114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8250435" y="3762375"/>
            <a:ext cx="179814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7"/>
          <p:cNvSpPr/>
          <p:nvPr/>
        </p:nvSpPr>
        <p:spPr>
          <a:xfrm>
            <a:off x="8250435" y="3209925"/>
            <a:ext cx="179814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10048577" y="3762375"/>
            <a:ext cx="156239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10048577" y="3209925"/>
            <a:ext cx="156239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11601450" y="3209925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6381750" y="4419600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6381750" y="3867150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6381750" y="3867150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7"/>
          <p:cNvSpPr/>
          <p:nvPr/>
        </p:nvSpPr>
        <p:spPr>
          <a:xfrm>
            <a:off x="7239000" y="4419600"/>
            <a:ext cx="10114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7"/>
          <p:cNvSpPr/>
          <p:nvPr/>
        </p:nvSpPr>
        <p:spPr>
          <a:xfrm>
            <a:off x="7239000" y="3867150"/>
            <a:ext cx="10114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8250435" y="4419600"/>
            <a:ext cx="179814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8250435" y="3867150"/>
            <a:ext cx="179814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7"/>
          <p:cNvSpPr/>
          <p:nvPr/>
        </p:nvSpPr>
        <p:spPr>
          <a:xfrm>
            <a:off x="10048577" y="4419600"/>
            <a:ext cx="156239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7"/>
          <p:cNvSpPr/>
          <p:nvPr/>
        </p:nvSpPr>
        <p:spPr>
          <a:xfrm>
            <a:off x="10048577" y="3867150"/>
            <a:ext cx="156239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7"/>
          <p:cNvSpPr/>
          <p:nvPr/>
        </p:nvSpPr>
        <p:spPr>
          <a:xfrm>
            <a:off x="11601450" y="3867150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6381750" y="507682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7"/>
          <p:cNvSpPr/>
          <p:nvPr/>
        </p:nvSpPr>
        <p:spPr>
          <a:xfrm>
            <a:off x="6381750" y="452437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7"/>
          <p:cNvSpPr/>
          <p:nvPr/>
        </p:nvSpPr>
        <p:spPr>
          <a:xfrm>
            <a:off x="6381750" y="4524375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7"/>
          <p:cNvSpPr/>
          <p:nvPr/>
        </p:nvSpPr>
        <p:spPr>
          <a:xfrm>
            <a:off x="7239000" y="5076825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7"/>
          <p:cNvSpPr/>
          <p:nvPr/>
        </p:nvSpPr>
        <p:spPr>
          <a:xfrm>
            <a:off x="7239000" y="4524375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7"/>
          <p:cNvSpPr/>
          <p:nvPr/>
        </p:nvSpPr>
        <p:spPr>
          <a:xfrm>
            <a:off x="8250435" y="5076825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7"/>
          <p:cNvSpPr/>
          <p:nvPr/>
        </p:nvSpPr>
        <p:spPr>
          <a:xfrm>
            <a:off x="8250435" y="4524375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7"/>
          <p:cNvSpPr/>
          <p:nvPr/>
        </p:nvSpPr>
        <p:spPr>
          <a:xfrm>
            <a:off x="10048577" y="5076825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7"/>
          <p:cNvSpPr/>
          <p:nvPr/>
        </p:nvSpPr>
        <p:spPr>
          <a:xfrm>
            <a:off x="10048577" y="4524375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7"/>
          <p:cNvSpPr/>
          <p:nvPr/>
        </p:nvSpPr>
        <p:spPr>
          <a:xfrm>
            <a:off x="11601450" y="4524375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7"/>
          <p:cNvSpPr/>
          <p:nvPr/>
        </p:nvSpPr>
        <p:spPr>
          <a:xfrm>
            <a:off x="6381750" y="57340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7"/>
          <p:cNvSpPr/>
          <p:nvPr/>
        </p:nvSpPr>
        <p:spPr>
          <a:xfrm>
            <a:off x="6381750" y="51816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7"/>
          <p:cNvSpPr/>
          <p:nvPr/>
        </p:nvSpPr>
        <p:spPr>
          <a:xfrm>
            <a:off x="6381750" y="51816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7"/>
          <p:cNvSpPr/>
          <p:nvPr/>
        </p:nvSpPr>
        <p:spPr>
          <a:xfrm>
            <a:off x="7239000" y="5734050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7"/>
          <p:cNvSpPr/>
          <p:nvPr/>
        </p:nvSpPr>
        <p:spPr>
          <a:xfrm>
            <a:off x="7239000" y="5181600"/>
            <a:ext cx="101143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7"/>
          <p:cNvSpPr/>
          <p:nvPr/>
        </p:nvSpPr>
        <p:spPr>
          <a:xfrm>
            <a:off x="8250435" y="5734050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7"/>
          <p:cNvSpPr/>
          <p:nvPr/>
        </p:nvSpPr>
        <p:spPr>
          <a:xfrm>
            <a:off x="8250435" y="5181600"/>
            <a:ext cx="1798141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7"/>
          <p:cNvSpPr/>
          <p:nvPr/>
        </p:nvSpPr>
        <p:spPr>
          <a:xfrm>
            <a:off x="10048577" y="5734050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7"/>
          <p:cNvSpPr/>
          <p:nvPr/>
        </p:nvSpPr>
        <p:spPr>
          <a:xfrm>
            <a:off x="10048577" y="5181600"/>
            <a:ext cx="156239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7"/>
          <p:cNvSpPr/>
          <p:nvPr/>
        </p:nvSpPr>
        <p:spPr>
          <a:xfrm>
            <a:off x="11601450" y="51816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6" name="Google Shape;20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8"/>
          <p:cNvSpPr txBox="1"/>
          <p:nvPr/>
        </p:nvSpPr>
        <p:spPr>
          <a:xfrm>
            <a:off x="771525" y="771525"/>
            <a:ext cx="4790598" cy="1123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Ví dụ 2: Xử lý Va chạm</a:t>
            </a: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771525" y="2276475"/>
            <a:ext cx="479059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Thêm SP012 "MacBook Pro"</a:t>
            </a:r>
            <a:endParaRPr/>
          </a:p>
        </p:txBody>
      </p:sp>
      <p:sp>
        <p:nvSpPr>
          <p:cNvPr id="209" name="Google Shape;209;p18"/>
          <p:cNvSpPr txBox="1"/>
          <p:nvPr/>
        </p:nvSpPr>
        <p:spPr>
          <a:xfrm>
            <a:off x="771525" y="2943225"/>
            <a:ext cx="45624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Bước 1: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Tính h1 = 310 % 11 =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/>
          </a:p>
        </p:txBody>
      </p:sp>
      <p:sp>
        <p:nvSpPr>
          <p:cNvPr id="210" name="Google Shape;210;p18"/>
          <p:cNvSpPr txBox="1"/>
          <p:nvPr/>
        </p:nvSpPr>
        <p:spPr>
          <a:xfrm>
            <a:off x="771488" y="3286125"/>
            <a:ext cx="456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🔴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VA CHẠM!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Slot[2] đã có SP001.</a:t>
            </a:r>
            <a:endParaRPr/>
          </a:p>
        </p:txBody>
      </p:sp>
      <p:sp>
        <p:nvSpPr>
          <p:cNvPr id="211" name="Google Shape;211;p18"/>
          <p:cNvSpPr txBox="1"/>
          <p:nvPr/>
        </p:nvSpPr>
        <p:spPr>
          <a:xfrm>
            <a:off x="771463" y="3739100"/>
            <a:ext cx="456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Bước 2: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Tính bước nhảy h2</a:t>
            </a:r>
            <a:endParaRPr/>
          </a:p>
        </p:txBody>
      </p:sp>
      <p:sp>
        <p:nvSpPr>
          <p:cNvPr id="212" name="Google Shape;212;p18"/>
          <p:cNvSpPr txBox="1"/>
          <p:nvPr/>
        </p:nvSpPr>
        <p:spPr>
          <a:xfrm>
            <a:off x="771463" y="4099825"/>
            <a:ext cx="456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Với R = 7, h2 = 7 - (310 % 7) =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771500" y="4490800"/>
            <a:ext cx="456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Bước 3: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Thăm dò lần 2 (i=1)</a:t>
            </a:r>
            <a:endParaRPr/>
          </a:p>
        </p:txBody>
      </p:sp>
      <p:sp>
        <p:nvSpPr>
          <p:cNvPr id="214" name="Google Shape;214;p18"/>
          <p:cNvSpPr txBox="1"/>
          <p:nvPr/>
        </p:nvSpPr>
        <p:spPr>
          <a:xfrm>
            <a:off x="771500" y="4909875"/>
            <a:ext cx="4562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pos = (2 + 1×5) % 11 =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/>
          </a:p>
        </p:txBody>
      </p:sp>
      <p:sp>
        <p:nvSpPr>
          <p:cNvPr id="215" name="Google Shape;215;p18"/>
          <p:cNvSpPr txBox="1"/>
          <p:nvPr/>
        </p:nvSpPr>
        <p:spPr>
          <a:xfrm>
            <a:off x="771525" y="7248525"/>
            <a:ext cx="4562475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✅ Slot[7] TRỐNG → Lưu tại đây.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"/>
          <p:cNvSpPr txBox="1"/>
          <p:nvPr/>
        </p:nvSpPr>
        <p:spPr>
          <a:xfrm>
            <a:off x="581025" y="581025"/>
            <a:ext cx="115814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Kết quả sau khi xử lý va chạm</a:t>
            </a:r>
            <a:endParaRPr/>
          </a:p>
        </p:txBody>
      </p:sp>
      <p:sp>
        <p:nvSpPr>
          <p:cNvPr id="221" name="Google Shape;221;p19"/>
          <p:cNvSpPr txBox="1"/>
          <p:nvPr/>
        </p:nvSpPr>
        <p:spPr>
          <a:xfrm>
            <a:off x="581025" y="1247775"/>
            <a:ext cx="11030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Sản phẩm SP012 (MacBook) đã được chuyển từ vị trí 2 sang vị trí 7.</a:t>
            </a:r>
            <a:endParaRPr/>
          </a:p>
        </p:txBody>
      </p:sp>
      <p:graphicFrame>
        <p:nvGraphicFramePr>
          <p:cNvPr id="222" name="Google Shape;222;p19"/>
          <p:cNvGraphicFramePr/>
          <p:nvPr/>
        </p:nvGraphicFramePr>
        <p:xfrm>
          <a:off x="581100" y="1624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{180E7C5D-07D8-4127-A452-918B81BA2EC1}</a:tableStyleId>
              </a:tblPr>
              <a:tblGrid>
                <a:gridCol w="857250"/>
                <a:gridCol w="2353575"/>
                <a:gridCol w="4184000"/>
                <a:gridCol w="3635125"/>
              </a:tblGrid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Index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Key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Product Name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Status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iPhone 15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OCCUPIED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Laptop Dell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OCCUPIED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...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...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...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...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7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MacBook Pro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OCCUPIED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641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8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-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NONE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</a:tbl>
          </a:graphicData>
        </a:graphic>
      </p:graphicFrame>
      <p:sp>
        <p:nvSpPr>
          <p:cNvPr id="223" name="Google Shape;223;p19"/>
          <p:cNvSpPr txBox="1"/>
          <p:nvPr/>
        </p:nvSpPr>
        <p:spPr>
          <a:xfrm>
            <a:off x="581025" y="7534275"/>
            <a:ext cx="110299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Chuỗi thăm dò: [2] ➔ VA CHẠM ➔ (+5) ➔ [7] OK</a:t>
            </a:r>
            <a:endParaRPr/>
          </a:p>
        </p:txBody>
      </p:sp>
      <p:sp>
        <p:nvSpPr>
          <p:cNvPr id="224" name="Google Shape;224;p19"/>
          <p:cNvSpPr/>
          <p:nvPr/>
        </p:nvSpPr>
        <p:spPr>
          <a:xfrm>
            <a:off x="581025" y="269557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9"/>
          <p:cNvSpPr/>
          <p:nvPr/>
        </p:nvSpPr>
        <p:spPr>
          <a:xfrm>
            <a:off x="1438275" y="2695575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9"/>
          <p:cNvSpPr/>
          <p:nvPr/>
        </p:nvSpPr>
        <p:spPr>
          <a:xfrm>
            <a:off x="3791842" y="2695575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/>
          <p:nvPr/>
        </p:nvSpPr>
        <p:spPr>
          <a:xfrm>
            <a:off x="7975848" y="2695575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9"/>
          <p:cNvSpPr/>
          <p:nvPr/>
        </p:nvSpPr>
        <p:spPr>
          <a:xfrm>
            <a:off x="581025" y="33528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81025" y="28003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9"/>
          <p:cNvSpPr/>
          <p:nvPr/>
        </p:nvSpPr>
        <p:spPr>
          <a:xfrm>
            <a:off x="581025" y="280035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9"/>
          <p:cNvSpPr/>
          <p:nvPr/>
        </p:nvSpPr>
        <p:spPr>
          <a:xfrm>
            <a:off x="1438275" y="335280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9"/>
          <p:cNvSpPr/>
          <p:nvPr/>
        </p:nvSpPr>
        <p:spPr>
          <a:xfrm>
            <a:off x="1438275" y="280035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9"/>
          <p:cNvSpPr/>
          <p:nvPr/>
        </p:nvSpPr>
        <p:spPr>
          <a:xfrm>
            <a:off x="3791842" y="335280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/>
          <p:nvPr/>
        </p:nvSpPr>
        <p:spPr>
          <a:xfrm>
            <a:off x="3791842" y="280035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7975848" y="335280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7975848" y="280035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9"/>
          <p:cNvSpPr/>
          <p:nvPr/>
        </p:nvSpPr>
        <p:spPr>
          <a:xfrm>
            <a:off x="11601450" y="280035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9"/>
          <p:cNvSpPr/>
          <p:nvPr/>
        </p:nvSpPr>
        <p:spPr>
          <a:xfrm>
            <a:off x="581025" y="401002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9"/>
          <p:cNvSpPr/>
          <p:nvPr/>
        </p:nvSpPr>
        <p:spPr>
          <a:xfrm>
            <a:off x="581025" y="345757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9"/>
          <p:cNvSpPr/>
          <p:nvPr/>
        </p:nvSpPr>
        <p:spPr>
          <a:xfrm>
            <a:off x="581025" y="3457575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9"/>
          <p:cNvSpPr/>
          <p:nvPr/>
        </p:nvSpPr>
        <p:spPr>
          <a:xfrm>
            <a:off x="1438275" y="4010025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9"/>
          <p:cNvSpPr/>
          <p:nvPr/>
        </p:nvSpPr>
        <p:spPr>
          <a:xfrm>
            <a:off x="1438275" y="3457575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9"/>
          <p:cNvSpPr/>
          <p:nvPr/>
        </p:nvSpPr>
        <p:spPr>
          <a:xfrm>
            <a:off x="3791842" y="4010025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791842" y="3457575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9"/>
          <p:cNvSpPr/>
          <p:nvPr/>
        </p:nvSpPr>
        <p:spPr>
          <a:xfrm>
            <a:off x="7975848" y="4010025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9"/>
          <p:cNvSpPr/>
          <p:nvPr/>
        </p:nvSpPr>
        <p:spPr>
          <a:xfrm>
            <a:off x="7975848" y="3457575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11601450" y="3457575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9"/>
          <p:cNvSpPr/>
          <p:nvPr/>
        </p:nvSpPr>
        <p:spPr>
          <a:xfrm>
            <a:off x="581025" y="46672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9"/>
          <p:cNvSpPr/>
          <p:nvPr/>
        </p:nvSpPr>
        <p:spPr>
          <a:xfrm>
            <a:off x="581025" y="41148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9"/>
          <p:cNvSpPr/>
          <p:nvPr/>
        </p:nvSpPr>
        <p:spPr>
          <a:xfrm>
            <a:off x="581025" y="41148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1438275" y="466725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9"/>
          <p:cNvSpPr/>
          <p:nvPr/>
        </p:nvSpPr>
        <p:spPr>
          <a:xfrm>
            <a:off x="1438275" y="411480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791842" y="466725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9"/>
          <p:cNvSpPr/>
          <p:nvPr/>
        </p:nvSpPr>
        <p:spPr>
          <a:xfrm>
            <a:off x="3791842" y="411480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7975848" y="466725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9"/>
          <p:cNvSpPr/>
          <p:nvPr/>
        </p:nvSpPr>
        <p:spPr>
          <a:xfrm>
            <a:off x="7975848" y="411480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9"/>
          <p:cNvSpPr/>
          <p:nvPr/>
        </p:nvSpPr>
        <p:spPr>
          <a:xfrm>
            <a:off x="11601450" y="41148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9"/>
          <p:cNvSpPr/>
          <p:nvPr/>
        </p:nvSpPr>
        <p:spPr>
          <a:xfrm>
            <a:off x="581025" y="526732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9"/>
          <p:cNvSpPr/>
          <p:nvPr/>
        </p:nvSpPr>
        <p:spPr>
          <a:xfrm>
            <a:off x="581025" y="4772025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9"/>
          <p:cNvSpPr/>
          <p:nvPr/>
        </p:nvSpPr>
        <p:spPr>
          <a:xfrm>
            <a:off x="581025" y="4772025"/>
            <a:ext cx="9525" cy="5048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19"/>
          <p:cNvSpPr/>
          <p:nvPr/>
        </p:nvSpPr>
        <p:spPr>
          <a:xfrm>
            <a:off x="1438275" y="5267325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9"/>
          <p:cNvSpPr/>
          <p:nvPr/>
        </p:nvSpPr>
        <p:spPr>
          <a:xfrm>
            <a:off x="1438275" y="4772025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9"/>
          <p:cNvSpPr/>
          <p:nvPr/>
        </p:nvSpPr>
        <p:spPr>
          <a:xfrm>
            <a:off x="3791842" y="5267325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9"/>
          <p:cNvSpPr/>
          <p:nvPr/>
        </p:nvSpPr>
        <p:spPr>
          <a:xfrm>
            <a:off x="3791842" y="4772025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9"/>
          <p:cNvSpPr/>
          <p:nvPr/>
        </p:nvSpPr>
        <p:spPr>
          <a:xfrm>
            <a:off x="7975848" y="5267325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9"/>
          <p:cNvSpPr/>
          <p:nvPr/>
        </p:nvSpPr>
        <p:spPr>
          <a:xfrm>
            <a:off x="7975848" y="4772025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9"/>
          <p:cNvSpPr/>
          <p:nvPr/>
        </p:nvSpPr>
        <p:spPr>
          <a:xfrm>
            <a:off x="11601450" y="4772025"/>
            <a:ext cx="9525" cy="5048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9"/>
          <p:cNvSpPr/>
          <p:nvPr/>
        </p:nvSpPr>
        <p:spPr>
          <a:xfrm>
            <a:off x="581025" y="59245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9"/>
          <p:cNvSpPr/>
          <p:nvPr/>
        </p:nvSpPr>
        <p:spPr>
          <a:xfrm>
            <a:off x="581025" y="53721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9"/>
          <p:cNvSpPr/>
          <p:nvPr/>
        </p:nvSpPr>
        <p:spPr>
          <a:xfrm>
            <a:off x="581025" y="53721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9"/>
          <p:cNvSpPr/>
          <p:nvPr/>
        </p:nvSpPr>
        <p:spPr>
          <a:xfrm>
            <a:off x="1438275" y="592455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9"/>
          <p:cNvSpPr/>
          <p:nvPr/>
        </p:nvSpPr>
        <p:spPr>
          <a:xfrm>
            <a:off x="1438275" y="537210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9"/>
          <p:cNvSpPr/>
          <p:nvPr/>
        </p:nvSpPr>
        <p:spPr>
          <a:xfrm>
            <a:off x="3791842" y="592455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9"/>
          <p:cNvSpPr/>
          <p:nvPr/>
        </p:nvSpPr>
        <p:spPr>
          <a:xfrm>
            <a:off x="3791842" y="537210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9"/>
          <p:cNvSpPr/>
          <p:nvPr/>
        </p:nvSpPr>
        <p:spPr>
          <a:xfrm>
            <a:off x="7975848" y="592455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9"/>
          <p:cNvSpPr/>
          <p:nvPr/>
        </p:nvSpPr>
        <p:spPr>
          <a:xfrm>
            <a:off x="7975848" y="537210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9"/>
          <p:cNvSpPr/>
          <p:nvPr/>
        </p:nvSpPr>
        <p:spPr>
          <a:xfrm>
            <a:off x="11601450" y="537210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9"/>
          <p:cNvSpPr/>
          <p:nvPr/>
        </p:nvSpPr>
        <p:spPr>
          <a:xfrm>
            <a:off x="581025" y="6581775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9"/>
          <p:cNvSpPr/>
          <p:nvPr/>
        </p:nvSpPr>
        <p:spPr>
          <a:xfrm>
            <a:off x="581025" y="6029325"/>
            <a:ext cx="85725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9"/>
          <p:cNvSpPr/>
          <p:nvPr/>
        </p:nvSpPr>
        <p:spPr>
          <a:xfrm>
            <a:off x="581025" y="6029325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9"/>
          <p:cNvSpPr/>
          <p:nvPr/>
        </p:nvSpPr>
        <p:spPr>
          <a:xfrm>
            <a:off x="1438275" y="6581775"/>
            <a:ext cx="235356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9"/>
          <p:cNvSpPr/>
          <p:nvPr/>
        </p:nvSpPr>
        <p:spPr>
          <a:xfrm>
            <a:off x="1438275" y="6029325"/>
            <a:ext cx="2353567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9"/>
          <p:cNvSpPr/>
          <p:nvPr/>
        </p:nvSpPr>
        <p:spPr>
          <a:xfrm>
            <a:off x="3791842" y="6581775"/>
            <a:ext cx="418400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9"/>
          <p:cNvSpPr/>
          <p:nvPr/>
        </p:nvSpPr>
        <p:spPr>
          <a:xfrm>
            <a:off x="3791842" y="6029325"/>
            <a:ext cx="418400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9"/>
          <p:cNvSpPr/>
          <p:nvPr/>
        </p:nvSpPr>
        <p:spPr>
          <a:xfrm>
            <a:off x="7975848" y="6581775"/>
            <a:ext cx="3635126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9"/>
          <p:cNvSpPr/>
          <p:nvPr/>
        </p:nvSpPr>
        <p:spPr>
          <a:xfrm>
            <a:off x="7975848" y="6029325"/>
            <a:ext cx="3635126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9"/>
          <p:cNvSpPr/>
          <p:nvPr/>
        </p:nvSpPr>
        <p:spPr>
          <a:xfrm>
            <a:off x="11601450" y="6029325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9"/>
          <p:cNvSpPr/>
          <p:nvPr/>
        </p:nvSpPr>
        <p:spPr>
          <a:xfrm>
            <a:off x="581025" y="723900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9"/>
          <p:cNvSpPr/>
          <p:nvPr/>
        </p:nvSpPr>
        <p:spPr>
          <a:xfrm>
            <a:off x="581025" y="6686550"/>
            <a:ext cx="85725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9"/>
          <p:cNvSpPr/>
          <p:nvPr/>
        </p:nvSpPr>
        <p:spPr>
          <a:xfrm>
            <a:off x="581025" y="668655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9"/>
          <p:cNvSpPr/>
          <p:nvPr/>
        </p:nvSpPr>
        <p:spPr>
          <a:xfrm>
            <a:off x="1438275" y="723900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/>
          <p:nvPr/>
        </p:nvSpPr>
        <p:spPr>
          <a:xfrm>
            <a:off x="1438275" y="6686550"/>
            <a:ext cx="2353567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9"/>
          <p:cNvSpPr/>
          <p:nvPr/>
        </p:nvSpPr>
        <p:spPr>
          <a:xfrm>
            <a:off x="3791842" y="723900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/>
          <p:nvPr/>
        </p:nvSpPr>
        <p:spPr>
          <a:xfrm>
            <a:off x="3791842" y="6686550"/>
            <a:ext cx="4184005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9"/>
          <p:cNvSpPr/>
          <p:nvPr/>
        </p:nvSpPr>
        <p:spPr>
          <a:xfrm>
            <a:off x="7975848" y="723900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9"/>
          <p:cNvSpPr/>
          <p:nvPr/>
        </p:nvSpPr>
        <p:spPr>
          <a:xfrm>
            <a:off x="7975848" y="6686550"/>
            <a:ext cx="3635126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9"/>
          <p:cNvSpPr/>
          <p:nvPr/>
        </p:nvSpPr>
        <p:spPr>
          <a:xfrm>
            <a:off x="11601450" y="6686550"/>
            <a:ext cx="9525" cy="56197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2" name="Google Shape;30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1025" y="1881187"/>
            <a:ext cx="3486150" cy="403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352925" y="1881187"/>
            <a:ext cx="3486150" cy="403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124825" y="1881187"/>
            <a:ext cx="3486150" cy="403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0"/>
          <p:cNvSpPr txBox="1"/>
          <p:nvPr/>
        </p:nvSpPr>
        <p:spPr>
          <a:xfrm>
            <a:off x="581025" y="581025"/>
            <a:ext cx="115815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Tìm kiếm </a:t>
            </a:r>
            <a:r>
              <a:rPr b="1" lang="en-US" sz="36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“</a:t>
            </a: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SP012</a:t>
            </a:r>
            <a:r>
              <a:rPr b="1" lang="en-US" sz="360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endParaRPr/>
          </a:p>
        </p:txBody>
      </p:sp>
      <p:pic>
        <p:nvPicPr>
          <p:cNvPr descr="image.png" id="306" name="Google Shape;306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71550" y="227171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0"/>
          <p:cNvSpPr txBox="1"/>
          <p:nvPr/>
        </p:nvSpPr>
        <p:spPr>
          <a:xfrm>
            <a:off x="971550" y="3033712"/>
            <a:ext cx="284035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1. Tính h1</a:t>
            </a:r>
            <a:endParaRPr/>
          </a:p>
        </p:txBody>
      </p:sp>
      <p:sp>
        <p:nvSpPr>
          <p:cNvPr id="308" name="Google Shape;308;p20"/>
          <p:cNvSpPr txBox="1"/>
          <p:nvPr/>
        </p:nvSpPr>
        <p:spPr>
          <a:xfrm>
            <a:off x="971550" y="35480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h1("SP012") = 2</a:t>
            </a:r>
            <a:endParaRPr/>
          </a:p>
        </p:txBody>
      </p:sp>
      <p:sp>
        <p:nvSpPr>
          <p:cNvPr id="309" name="Google Shape;309;p20"/>
          <p:cNvSpPr txBox="1"/>
          <p:nvPr/>
        </p:nvSpPr>
        <p:spPr>
          <a:xfrm>
            <a:off x="971550" y="40433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Kiểm tra Slot[2]:</a:t>
            </a:r>
            <a:endParaRPr/>
          </a:p>
        </p:txBody>
      </p:sp>
      <p:sp>
        <p:nvSpPr>
          <p:cNvPr id="310" name="Google Shape;310;p20"/>
          <p:cNvSpPr txBox="1"/>
          <p:nvPr/>
        </p:nvSpPr>
        <p:spPr>
          <a:xfrm>
            <a:off x="971550" y="45386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Gặp SP001 ≠ SP012</a:t>
            </a:r>
            <a:endParaRPr/>
          </a:p>
        </p:txBody>
      </p:sp>
      <p:sp>
        <p:nvSpPr>
          <p:cNvPr id="311" name="Google Shape;311;p20"/>
          <p:cNvSpPr txBox="1"/>
          <p:nvPr/>
        </p:nvSpPr>
        <p:spPr>
          <a:xfrm>
            <a:off x="971550" y="50339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➔ Tiếp tục</a:t>
            </a:r>
            <a:endParaRPr/>
          </a:p>
        </p:txBody>
      </p:sp>
      <p:pic>
        <p:nvPicPr>
          <p:cNvPr descr="image.png" id="312" name="Google Shape;312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743450" y="227171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0"/>
          <p:cNvSpPr txBox="1"/>
          <p:nvPr/>
        </p:nvSpPr>
        <p:spPr>
          <a:xfrm>
            <a:off x="4743450" y="3033712"/>
            <a:ext cx="284035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2. Tính bước nhảy</a:t>
            </a:r>
            <a:endParaRPr/>
          </a:p>
        </p:txBody>
      </p:sp>
      <p:sp>
        <p:nvSpPr>
          <p:cNvPr id="314" name="Google Shape;314;p20"/>
          <p:cNvSpPr txBox="1"/>
          <p:nvPr/>
        </p:nvSpPr>
        <p:spPr>
          <a:xfrm>
            <a:off x="4743450" y="35480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h2 = 5</a:t>
            </a:r>
            <a:endParaRPr/>
          </a:p>
        </p:txBody>
      </p:sp>
      <p:sp>
        <p:nvSpPr>
          <p:cNvPr id="315" name="Google Shape;315;p20"/>
          <p:cNvSpPr txBox="1"/>
          <p:nvPr/>
        </p:nvSpPr>
        <p:spPr>
          <a:xfrm>
            <a:off x="4743450" y="40433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Tính vị trí tiếp theo:</a:t>
            </a:r>
            <a:endParaRPr/>
          </a:p>
        </p:txBody>
      </p:sp>
      <p:sp>
        <p:nvSpPr>
          <p:cNvPr id="316" name="Google Shape;316;p20"/>
          <p:cNvSpPr txBox="1"/>
          <p:nvPr/>
        </p:nvSpPr>
        <p:spPr>
          <a:xfrm>
            <a:off x="4743450" y="45386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472B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pos = (2 + 5) % 11</a:t>
            </a:r>
            <a:endParaRPr/>
          </a:p>
        </p:txBody>
      </p:sp>
      <p:sp>
        <p:nvSpPr>
          <p:cNvPr id="317" name="Google Shape;317;p20"/>
          <p:cNvSpPr txBox="1"/>
          <p:nvPr/>
        </p:nvSpPr>
        <p:spPr>
          <a:xfrm>
            <a:off x="4743450" y="50339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pos = 7</a:t>
            </a:r>
            <a:endParaRPr/>
          </a:p>
        </p:txBody>
      </p:sp>
      <p:pic>
        <p:nvPicPr>
          <p:cNvPr descr="image.png" id="318" name="Google Shape;318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515350" y="2271712"/>
            <a:ext cx="571500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20"/>
          <p:cNvSpPr txBox="1"/>
          <p:nvPr/>
        </p:nvSpPr>
        <p:spPr>
          <a:xfrm>
            <a:off x="8515350" y="3033712"/>
            <a:ext cx="284035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3. Kết quả</a:t>
            </a:r>
            <a:endParaRPr/>
          </a:p>
        </p:txBody>
      </p:sp>
      <p:sp>
        <p:nvSpPr>
          <p:cNvPr id="320" name="Google Shape;320;p20"/>
          <p:cNvSpPr txBox="1"/>
          <p:nvPr/>
        </p:nvSpPr>
        <p:spPr>
          <a:xfrm>
            <a:off x="8515350" y="35099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Kiểm tra Slot[7]: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515350" y="40052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Gặp SP012</a:t>
            </a:r>
            <a:endParaRPr/>
          </a:p>
        </p:txBody>
      </p:sp>
      <p:sp>
        <p:nvSpPr>
          <p:cNvPr id="322" name="Google Shape;322;p20"/>
          <p:cNvSpPr txBox="1"/>
          <p:nvPr/>
        </p:nvSpPr>
        <p:spPr>
          <a:xfrm>
            <a:off x="8515350" y="4500562"/>
            <a:ext cx="27051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➔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TÌM THẤY!</a:t>
            </a:r>
            <a:endParaRPr/>
          </a:p>
        </p:txBody>
      </p:sp>
      <p:pic>
        <p:nvPicPr>
          <p:cNvPr descr="image.png" id="323" name="Google Shape;323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71575" y="2443162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4" name="Google Shape;324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886325" y="2443162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5" name="Google Shape;325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686800" y="2443162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0" name="Google Shape;3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81750" y="2265164"/>
            <a:ext cx="5229225" cy="327064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21"/>
          <p:cNvSpPr txBox="1"/>
          <p:nvPr/>
        </p:nvSpPr>
        <p:spPr>
          <a:xfrm>
            <a:off x="581025" y="581025"/>
            <a:ext cx="11581447" cy="561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rPr>
              <a:t>Xóa sản phẩm (Lazy Deletion)</a:t>
            </a:r>
            <a:endParaRPr/>
          </a:p>
        </p:txBody>
      </p:sp>
      <p:sp>
        <p:nvSpPr>
          <p:cNvPr id="332" name="Google Shape;332;p21"/>
          <p:cNvSpPr txBox="1"/>
          <p:nvPr/>
        </p:nvSpPr>
        <p:spPr>
          <a:xfrm>
            <a:off x="581025" y="2614612"/>
            <a:ext cx="5490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Vấn đề khi xóa vật lý</a:t>
            </a:r>
            <a:endParaRPr/>
          </a:p>
        </p:txBody>
      </p:sp>
      <p:sp>
        <p:nvSpPr>
          <p:cNvPr id="333" name="Google Shape;333;p21"/>
          <p:cNvSpPr txBox="1"/>
          <p:nvPr/>
        </p:nvSpPr>
        <p:spPr>
          <a:xfrm>
            <a:off x="581025" y="3128962"/>
            <a:ext cx="5229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Nếu ta xóa SP001 tại slot[2] và gán về </a:t>
            </a:r>
            <a:r>
              <a:rPr b="0" i="0" lang="en-US" sz="1500" u="none" cap="none" strike="noStrike">
                <a:solidFill>
                  <a:srgbClr val="F472B6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334" name="Google Shape;334;p21"/>
          <p:cNvSpPr txBox="1"/>
          <p:nvPr/>
        </p:nvSpPr>
        <p:spPr>
          <a:xfrm>
            <a:off x="581025" y="3624262"/>
            <a:ext cx="5229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Khi tìm kiếm SP012:</a:t>
            </a:r>
            <a:endParaRPr/>
          </a:p>
        </p:txBody>
      </p:sp>
      <p:sp>
        <p:nvSpPr>
          <p:cNvPr id="335" name="Google Shape;335;p21"/>
          <p:cNvSpPr txBox="1"/>
          <p:nvPr/>
        </p:nvSpPr>
        <p:spPr>
          <a:xfrm>
            <a:off x="6677025" y="2560439"/>
            <a:ext cx="4870608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22C55E"/>
                </a:solidFill>
                <a:latin typeface="Inter"/>
                <a:ea typeface="Inter"/>
                <a:cs typeface="Inter"/>
                <a:sym typeface="Inter"/>
              </a:rPr>
              <a:t>Giải pháp: Lazy Deletion</a:t>
            </a:r>
            <a:endParaRPr/>
          </a:p>
        </p:txBody>
      </p:sp>
      <p:sp>
        <p:nvSpPr>
          <p:cNvPr id="336" name="Google Shape;336;p21"/>
          <p:cNvSpPr txBox="1"/>
          <p:nvPr/>
        </p:nvSpPr>
        <p:spPr>
          <a:xfrm>
            <a:off x="6677025" y="3074789"/>
            <a:ext cx="4638675" cy="3275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Chỉ đánh dấu </a:t>
            </a:r>
            <a:r>
              <a:rPr b="1" i="0" lang="en-US" sz="15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DELETED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không xóa hẳn.</a:t>
            </a:r>
            <a:endParaRPr/>
          </a:p>
        </p:txBody>
      </p:sp>
      <p:graphicFrame>
        <p:nvGraphicFramePr>
          <p:cNvPr id="337" name="Google Shape;337;p21"/>
          <p:cNvGraphicFramePr/>
          <p:nvPr/>
        </p:nvGraphicFramePr>
        <p:xfrm>
          <a:off x="6677025" y="359285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{180E7C5D-07D8-4127-A452-918B81BA2EC1}</a:tableStyleId>
              </a:tblPr>
              <a:tblGrid>
                <a:gridCol w="762000"/>
                <a:gridCol w="948025"/>
                <a:gridCol w="1580100"/>
                <a:gridCol w="1348525"/>
              </a:tblGrid>
              <a:tr h="7524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8BDF8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SP001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64748B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Laptop Dell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BD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2E8F0"/>
                          </a:solidFill>
                          <a:latin typeface="JetBrains Mono"/>
                          <a:ea typeface="JetBrains Mono"/>
                          <a:cs typeface="JetBrains Mono"/>
                          <a:sym typeface="JetBrains Mono"/>
                        </a:rPr>
                        <a:t>DELETED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8BDF8"/>
                    </a:solidFill>
                  </a:tcPr>
                </a:tc>
              </a:tr>
            </a:tbl>
          </a:graphicData>
        </a:graphic>
      </p:graphicFrame>
      <p:sp>
        <p:nvSpPr>
          <p:cNvPr id="338" name="Google Shape;338;p21"/>
          <p:cNvSpPr txBox="1"/>
          <p:nvPr/>
        </p:nvSpPr>
        <p:spPr>
          <a:xfrm>
            <a:off x="6677025" y="4535834"/>
            <a:ext cx="4638675" cy="55230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Khi tìm kiếm gặp </a:t>
            </a:r>
            <a:r>
              <a:rPr b="1" i="0" lang="en-US" sz="1200" u="none" cap="none" strike="noStrike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DELETED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thuật toán biết rằng phải </a:t>
            </a:r>
            <a:r>
              <a:rPr b="1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tiếp tục nhảy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để tìm các phần tử bị va chạm phía sau.</a:t>
            </a:r>
            <a:endParaRPr/>
          </a:p>
        </p:txBody>
      </p:sp>
      <p:sp>
        <p:nvSpPr>
          <p:cNvPr id="339" name="Google Shape;339;p21"/>
          <p:cNvSpPr txBox="1"/>
          <p:nvPr/>
        </p:nvSpPr>
        <p:spPr>
          <a:xfrm>
            <a:off x="857250" y="41195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40" name="Google Shape;340;p21"/>
          <p:cNvSpPr txBox="1"/>
          <p:nvPr/>
        </p:nvSpPr>
        <p:spPr>
          <a:xfrm>
            <a:off x="962025" y="4119562"/>
            <a:ext cx="484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Vào Slot[2] thấy </a:t>
            </a:r>
            <a:r>
              <a:rPr b="0" i="0" lang="en-US" sz="1500" u="none" cap="none" strike="noStrike">
                <a:solidFill>
                  <a:srgbClr val="F472B6"/>
                </a:solidFill>
                <a:latin typeface="Inter"/>
                <a:ea typeface="Inter"/>
                <a:cs typeface="Inter"/>
                <a:sym typeface="Inter"/>
              </a:rPr>
              <a:t>None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341" name="Google Shape;341;p21"/>
          <p:cNvSpPr txBox="1"/>
          <p:nvPr/>
        </p:nvSpPr>
        <p:spPr>
          <a:xfrm>
            <a:off x="857250" y="44243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42" name="Google Shape;342;p21"/>
          <p:cNvSpPr txBox="1"/>
          <p:nvPr/>
        </p:nvSpPr>
        <p:spPr>
          <a:xfrm>
            <a:off x="962025" y="4424362"/>
            <a:ext cx="484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Thuật toán nghĩ rằng "Không còn gì phía sau".</a:t>
            </a:r>
            <a:endParaRPr/>
          </a:p>
        </p:txBody>
      </p:sp>
      <p:sp>
        <p:nvSpPr>
          <p:cNvPr id="343" name="Google Shape;343;p21"/>
          <p:cNvSpPr txBox="1"/>
          <p:nvPr/>
        </p:nvSpPr>
        <p:spPr>
          <a:xfrm>
            <a:off x="857250" y="4729162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44" name="Google Shape;344;p21"/>
          <p:cNvSpPr txBox="1"/>
          <p:nvPr/>
        </p:nvSpPr>
        <p:spPr>
          <a:xfrm>
            <a:off x="962025" y="4729162"/>
            <a:ext cx="4848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➔ DỪNG LẠI và báo </a:t>
            </a:r>
            <a:r>
              <a:rPr b="1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Không tìm thấy SP012</a:t>
            </a:r>
            <a:r>
              <a:rPr b="0" i="0" lang="en-US" sz="15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(Sai!).</a:t>
            </a:r>
            <a:endParaRPr/>
          </a:p>
        </p:txBody>
      </p:sp>
      <p:sp>
        <p:nvSpPr>
          <p:cNvPr id="345" name="Google Shape;345;p21"/>
          <p:cNvSpPr/>
          <p:nvPr/>
        </p:nvSpPr>
        <p:spPr>
          <a:xfrm>
            <a:off x="6677025" y="4240559"/>
            <a:ext cx="76200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1"/>
          <p:cNvSpPr/>
          <p:nvPr/>
        </p:nvSpPr>
        <p:spPr>
          <a:xfrm>
            <a:off x="6677025" y="3688109"/>
            <a:ext cx="762000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/>
          <p:nvPr/>
        </p:nvSpPr>
        <p:spPr>
          <a:xfrm>
            <a:off x="6677025" y="3688109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21"/>
          <p:cNvSpPr/>
          <p:nvPr/>
        </p:nvSpPr>
        <p:spPr>
          <a:xfrm>
            <a:off x="7439025" y="4240559"/>
            <a:ext cx="9480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/>
          <p:nvPr/>
        </p:nvSpPr>
        <p:spPr>
          <a:xfrm>
            <a:off x="7439025" y="3688109"/>
            <a:ext cx="948035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1"/>
          <p:cNvSpPr/>
          <p:nvPr/>
        </p:nvSpPr>
        <p:spPr>
          <a:xfrm>
            <a:off x="8387060" y="4240559"/>
            <a:ext cx="1580108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1"/>
          <p:cNvSpPr/>
          <p:nvPr/>
        </p:nvSpPr>
        <p:spPr>
          <a:xfrm>
            <a:off x="8387060" y="3688109"/>
            <a:ext cx="1580108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1"/>
          <p:cNvSpPr/>
          <p:nvPr/>
        </p:nvSpPr>
        <p:spPr>
          <a:xfrm>
            <a:off x="9967168" y="4240559"/>
            <a:ext cx="134853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1"/>
          <p:cNvSpPr/>
          <p:nvPr/>
        </p:nvSpPr>
        <p:spPr>
          <a:xfrm>
            <a:off x="9967168" y="3688109"/>
            <a:ext cx="1348531" cy="952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1"/>
          <p:cNvSpPr/>
          <p:nvPr/>
        </p:nvSpPr>
        <p:spPr>
          <a:xfrm>
            <a:off x="11306175" y="3688109"/>
            <a:ext cx="9525" cy="561975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293B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2"/>
          <p:cNvSpPr txBox="1"/>
          <p:nvPr/>
        </p:nvSpPr>
        <p:spPr>
          <a:xfrm>
            <a:off x="4623319" y="3468141"/>
            <a:ext cx="2945211" cy="6704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Hỏi &amp; Đáp</a:t>
            </a:r>
            <a:endParaRPr/>
          </a:p>
        </p:txBody>
      </p:sp>
      <p:sp>
        <p:nvSpPr>
          <p:cNvPr id="360" name="Google Shape;360;p22"/>
          <p:cNvSpPr txBox="1"/>
          <p:nvPr/>
        </p:nvSpPr>
        <p:spPr>
          <a:xfrm>
            <a:off x="4280044" y="4212398"/>
            <a:ext cx="4035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Cảm ơn bạn đã theo dõi.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